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6"/>
  </p:notesMasterIdLst>
  <p:sldIdLst>
    <p:sldId id="256" r:id="rId5"/>
    <p:sldId id="257" r:id="rId6"/>
    <p:sldId id="263" r:id="rId7"/>
    <p:sldId id="265" r:id="rId8"/>
    <p:sldId id="258" r:id="rId9"/>
    <p:sldId id="259" r:id="rId10"/>
    <p:sldId id="261" r:id="rId11"/>
    <p:sldId id="262" r:id="rId12"/>
    <p:sldId id="260" r:id="rId13"/>
    <p:sldId id="266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776A-4EBC-4940-9B69-90191D24AB03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05A9-1959-4E90-8C38-5EDFEFC899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46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title </a:t>
            </a:r>
            <a:r>
              <a:rPr lang="en-US"/>
              <a:t>for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605A9-1959-4E90-8C38-5EDFEFC899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833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how to access databases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605A9-1959-4E90-8C38-5EDFEFC899C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067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alaero.libguides.com/c.php?g=1103072&amp;p=804222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Rachel Kelly, MLIS</a:t>
            </a:r>
          </a:p>
          <a:p>
            <a:r>
              <a:rPr lang="en-US" dirty="0"/>
              <a:t>Learning Resource Center - California Aeronautical University</a:t>
            </a:r>
          </a:p>
          <a:p>
            <a:r>
              <a:rPr lang="en-US" dirty="0"/>
              <a:t>September, 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23" y="5592438"/>
            <a:ext cx="2177902" cy="8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6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should I use them?</a:t>
            </a:r>
          </a:p>
          <a:p>
            <a:pPr lvl="1"/>
            <a:r>
              <a:rPr lang="en-US" dirty="0"/>
              <a:t>What can I find in them?</a:t>
            </a:r>
          </a:p>
          <a:p>
            <a:pPr lvl="1"/>
            <a:r>
              <a:rPr lang="en-US" dirty="0"/>
              <a:t>What are peer-reviewed sources?</a:t>
            </a:r>
          </a:p>
          <a:p>
            <a:r>
              <a:rPr lang="en-US" dirty="0"/>
              <a:t>Where are the databases?</a:t>
            </a:r>
          </a:p>
          <a:p>
            <a:r>
              <a:rPr lang="en-US" dirty="0"/>
              <a:t>Which do I use?</a:t>
            </a:r>
          </a:p>
          <a:p>
            <a:pPr lvl="1"/>
            <a:r>
              <a:rPr lang="en-US" dirty="0"/>
              <a:t>What if I need a specific one?</a:t>
            </a:r>
          </a:p>
          <a:p>
            <a:r>
              <a:rPr lang="en-US" dirty="0"/>
              <a:t>Search strategies</a:t>
            </a:r>
          </a:p>
          <a:p>
            <a:r>
              <a:rPr lang="en-US" dirty="0"/>
              <a:t>Questions?</a:t>
            </a:r>
          </a:p>
        </p:txBody>
      </p:sp>
      <p:pic>
        <p:nvPicPr>
          <p:cNvPr id="5" name="Picture 4" descr="aeronautical charts - Where can I find airspace maps fo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84" y="2638043"/>
            <a:ext cx="4219080" cy="310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Reputable, reliable, evaluated information that doesn’t require a subscription. </a:t>
            </a:r>
          </a:p>
          <a:p>
            <a:r>
              <a:rPr lang="en-US" dirty="0"/>
              <a:t>Find:</a:t>
            </a:r>
          </a:p>
          <a:p>
            <a:pPr lvl="1"/>
            <a:r>
              <a:rPr lang="en-US" dirty="0"/>
              <a:t>News</a:t>
            </a:r>
          </a:p>
          <a:p>
            <a:pPr lvl="1"/>
            <a:r>
              <a:rPr lang="en-US" dirty="0"/>
              <a:t>Magazines</a:t>
            </a:r>
          </a:p>
          <a:p>
            <a:pPr lvl="1"/>
            <a:r>
              <a:rPr lang="en-US" dirty="0"/>
              <a:t>Scholarly, Peer-Reviewed Articles*</a:t>
            </a:r>
          </a:p>
          <a:p>
            <a:pPr lvl="1"/>
            <a:r>
              <a:rPr lang="en-US" dirty="0"/>
              <a:t>Books</a:t>
            </a:r>
          </a:p>
        </p:txBody>
      </p:sp>
      <p:pic>
        <p:nvPicPr>
          <p:cNvPr id="4" name="Picture 3" descr="Question Mark PNG Transparent Images | PNG Al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04" y="3325971"/>
            <a:ext cx="4481623" cy="266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Scholarly, Peer-Reviewed Sources</a:t>
            </a:r>
          </a:p>
        </p:txBody>
      </p:sp>
      <p:pic>
        <p:nvPicPr>
          <p:cNvPr id="4" name="Picture 3" descr="Biomedical Research Journals | Open Access Journals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235" y="2319067"/>
            <a:ext cx="3366599" cy="24336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9516E0-D60B-5E93-5F49-B979EAA1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438" y="2638425"/>
            <a:ext cx="7731125" cy="31019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Think of a doctor, a lawyer, or other professionals like geologists…</a:t>
            </a:r>
          </a:p>
          <a:p>
            <a:pPr lvl="1"/>
            <a:r>
              <a:rPr lang="en-US" dirty="0"/>
              <a:t>Why do you trust them?</a:t>
            </a:r>
          </a:p>
          <a:p>
            <a:pPr lvl="2"/>
            <a:r>
              <a:rPr lang="en-US" dirty="0"/>
              <a:t>Education, experience, accreditation, training, professional organizations – </a:t>
            </a:r>
          </a:p>
          <a:p>
            <a:pPr lvl="2"/>
            <a:r>
              <a:rPr lang="en-US" dirty="0"/>
              <a:t>Published works are REVIEWED by other experts</a:t>
            </a:r>
          </a:p>
          <a:p>
            <a:r>
              <a:rPr lang="en-US" dirty="0"/>
              <a:t>Scholarly, Peer-Reviewed Articles</a:t>
            </a:r>
          </a:p>
          <a:p>
            <a:pPr lvl="1"/>
            <a:r>
              <a:rPr lang="en-US" dirty="0"/>
              <a:t>Prepared by professionals in field</a:t>
            </a:r>
          </a:p>
          <a:p>
            <a:pPr lvl="1"/>
            <a:r>
              <a:rPr lang="en-US" dirty="0"/>
              <a:t>Reviewed by experts in field</a:t>
            </a:r>
          </a:p>
          <a:p>
            <a:pPr lvl="1"/>
            <a:r>
              <a:rPr lang="en-US" dirty="0"/>
              <a:t>Experts choose if article is fit for publication</a:t>
            </a:r>
          </a:p>
          <a:p>
            <a:r>
              <a:rPr lang="en-US" dirty="0"/>
              <a:t>By Using Effectively: lends its expertise, knowledge, reputation to your paper and its claims</a:t>
            </a:r>
          </a:p>
          <a:p>
            <a:r>
              <a:rPr lang="en-US" dirty="0">
                <a:solidFill>
                  <a:srgbClr val="FF0000"/>
                </a:solidFill>
              </a:rPr>
              <a:t>Remember to cite!</a:t>
            </a:r>
          </a:p>
        </p:txBody>
      </p:sp>
    </p:spTree>
    <p:extLst>
      <p:ext uri="{BB962C8B-B14F-4D97-AF65-F5344CB8AC3E}">
        <p14:creationId xmlns:p14="http://schemas.microsoft.com/office/powerpoint/2010/main" val="376664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the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4563069" cy="31019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LIRN Library in Canvas</a:t>
            </a:r>
          </a:p>
          <a:p>
            <a:pPr lvl="1"/>
            <a:r>
              <a:rPr lang="en-US" dirty="0"/>
              <a:t>Access to Databases</a:t>
            </a:r>
          </a:p>
          <a:p>
            <a:r>
              <a:rPr lang="en-US" dirty="0"/>
              <a:t>Virtual Library </a:t>
            </a:r>
          </a:p>
          <a:p>
            <a:pPr lvl="1"/>
            <a:r>
              <a:rPr lang="en-US" dirty="0"/>
              <a:t>Help with selecting database, subject specific, class specific *WIP*, outside reputable resources</a:t>
            </a:r>
          </a:p>
          <a:p>
            <a:pPr lvl="1"/>
            <a:endParaRPr lang="en-US" dirty="0"/>
          </a:p>
          <a:p>
            <a:r>
              <a:rPr lang="en-US" dirty="0"/>
              <a:t>Note: accessing databases in Virtual Library requires you to click-through LIRN library first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038" y="2638044"/>
            <a:ext cx="1969772" cy="260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9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do I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specific or</a:t>
            </a:r>
          </a:p>
          <a:p>
            <a:pPr lvl="1"/>
            <a:r>
              <a:rPr lang="en-US" dirty="0"/>
              <a:t>ProQuest Central</a:t>
            </a:r>
          </a:p>
          <a:p>
            <a:pPr lvl="1"/>
            <a:r>
              <a:rPr lang="en-US" dirty="0"/>
              <a:t>Gale Academic OneFile</a:t>
            </a:r>
          </a:p>
        </p:txBody>
      </p:sp>
      <p:pic>
        <p:nvPicPr>
          <p:cNvPr id="4" name="Picture 3" descr="ProQuest: el poder de los recursos multidisciplinarios en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156" y="3835027"/>
            <a:ext cx="1905000" cy="1905000"/>
          </a:xfrm>
          <a:prstGeom prst="rect">
            <a:avLst/>
          </a:prstGeom>
        </p:spPr>
      </p:pic>
      <p:pic>
        <p:nvPicPr>
          <p:cNvPr id="5" name="Picture 4" descr="BASES DE DADOS INDEXADAS | RBNE - Revista Brasileira de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86" y="3923064"/>
            <a:ext cx="3615241" cy="1542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12242" y="457200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13963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Specific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Virtual Library</a:t>
            </a:r>
            <a:r>
              <a:rPr lang="en-US" dirty="0"/>
              <a:t> can help you choose</a:t>
            </a:r>
          </a:p>
          <a:p>
            <a:pPr lvl="1"/>
            <a:r>
              <a:rPr lang="en-US" dirty="0"/>
              <a:t>ABI/INFORM Trade &amp; Industry – Business topics: companies, products, executives, trends, etc.</a:t>
            </a:r>
          </a:p>
          <a:p>
            <a:pPr lvl="1"/>
            <a:r>
              <a:rPr lang="en-US" dirty="0"/>
              <a:t>Advance Technologies &amp; Aerospace Database – More scientific-based applications in Aviation: engineering, astronautics, applied physics, comm/networks, etc.</a:t>
            </a:r>
          </a:p>
          <a:p>
            <a:pPr lvl="1"/>
            <a:r>
              <a:rPr lang="en-US" dirty="0"/>
              <a:t>Career &amp; Technical Education Database – Careers / technical resources</a:t>
            </a:r>
          </a:p>
          <a:p>
            <a:pPr lvl="1"/>
            <a:r>
              <a:rPr lang="en-US" dirty="0"/>
              <a:t>Engineering Database: aircraft design, arctic/tropical engineering, civil engineering, etc.</a:t>
            </a:r>
          </a:p>
          <a:p>
            <a:pPr lvl="1"/>
            <a:r>
              <a:rPr lang="en-US" dirty="0"/>
              <a:t>Gale OneFile: Insurance and Liability:  aviation law, insurance topics</a:t>
            </a:r>
          </a:p>
          <a:p>
            <a:pPr lvl="1"/>
            <a:r>
              <a:rPr lang="en-US" dirty="0"/>
              <a:t>Gale OneFile: Military and Intelligence – topics relating to Air Force, military, etc.</a:t>
            </a:r>
          </a:p>
        </p:txBody>
      </p:sp>
      <p:pic>
        <p:nvPicPr>
          <p:cNvPr id="4" name="Picture 3" descr="Map Pin Icon · Free vector graphic on Pixaba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752" y="3550749"/>
            <a:ext cx="2244522" cy="127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0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Can’t Decide?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ProQuest Central or Gale Academic OneFile</a:t>
            </a:r>
          </a:p>
          <a:p>
            <a:pPr lvl="1"/>
            <a:r>
              <a:rPr lang="en-US" dirty="0"/>
              <a:t>Vendor View will show the databases they cover</a:t>
            </a:r>
          </a:p>
          <a:p>
            <a:pPr lvl="1"/>
            <a:r>
              <a:rPr lang="en-US" dirty="0"/>
              <a:t>Best for first search to get an idea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80" y="4088492"/>
            <a:ext cx="6201640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71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141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Check Full-Text </a:t>
            </a:r>
          </a:p>
          <a:p>
            <a:pPr lvl="1"/>
            <a:r>
              <a:rPr lang="en-US" dirty="0"/>
              <a:t>If looking for full-text, scholarly works: check Peer-Reviewed.</a:t>
            </a:r>
          </a:p>
          <a:p>
            <a:r>
              <a:rPr lang="en-US" dirty="0"/>
              <a:t>Use Advance Search – Use Limiters and Modifiers</a:t>
            </a:r>
          </a:p>
          <a:p>
            <a:pPr lvl="1"/>
            <a:r>
              <a:rPr lang="en-US" dirty="0"/>
              <a:t>English</a:t>
            </a:r>
          </a:p>
          <a:p>
            <a:pPr lvl="1"/>
            <a:r>
              <a:rPr lang="en-US" dirty="0"/>
              <a:t>Type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AND: Narrow / OR: Broaden / NOT: Exclude / “”: Exact phrase</a:t>
            </a:r>
          </a:p>
          <a:p>
            <a:r>
              <a:rPr lang="en-US" dirty="0"/>
              <a:t>Gale: Publication Subject</a:t>
            </a:r>
          </a:p>
          <a:p>
            <a:r>
              <a:rPr lang="en-US" dirty="0"/>
              <a:t>ProQuest: Advanced Search&gt;Thesaurus (look for terms)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Start searching for things! See what you can find!</a:t>
            </a:r>
          </a:p>
          <a:p>
            <a:pPr lvl="1"/>
            <a:endParaRPr lang="en-US" dirty="0"/>
          </a:p>
        </p:txBody>
      </p:sp>
      <p:pic>
        <p:nvPicPr>
          <p:cNvPr id="5" name="Picture 4" descr="Searching the literature - Literature Review - LibGuides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952" y="4496341"/>
            <a:ext cx="3448493" cy="133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0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4" name="Content Placeholder 3" descr="The Purpose of Research Questions – Choosing &amp; Using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66" y="2638425"/>
            <a:ext cx="3877468" cy="3101975"/>
          </a:xfrm>
        </p:spPr>
      </p:pic>
    </p:spTree>
    <p:extLst>
      <p:ext uri="{BB962C8B-B14F-4D97-AF65-F5344CB8AC3E}">
        <p14:creationId xmlns:p14="http://schemas.microsoft.com/office/powerpoint/2010/main" val="70897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Contact CAU Librarian: rachelk@calaero.edu</a:t>
            </a:r>
          </a:p>
          <a:p>
            <a:r>
              <a:rPr lang="en-US" dirty="0"/>
              <a:t>Phone: (661) 615-5915 Ext 1842</a:t>
            </a:r>
          </a:p>
          <a:p>
            <a:r>
              <a:rPr lang="en-US" dirty="0"/>
              <a:t>Appointments: contact me</a:t>
            </a:r>
          </a:p>
          <a:p>
            <a:r>
              <a:rPr lang="en-US" dirty="0"/>
              <a:t>Remote hours: M-F 10A-3P</a:t>
            </a:r>
          </a:p>
          <a:p>
            <a:r>
              <a:rPr lang="en-US" dirty="0"/>
              <a:t>Please note, hours may vary depending on student need.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943" y="4839318"/>
            <a:ext cx="3786113" cy="110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1354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173B02B7B874F8F6D8A57A7BE4FEE" ma:contentTypeVersion="15" ma:contentTypeDescription="Create a new document." ma:contentTypeScope="" ma:versionID="131efc5cf084989fe87164b95e37045f">
  <xsd:schema xmlns:xsd="http://www.w3.org/2001/XMLSchema" xmlns:xs="http://www.w3.org/2001/XMLSchema" xmlns:p="http://schemas.microsoft.com/office/2006/metadata/properties" xmlns:ns2="90c166ff-cbd0-43b5-b1aa-fcd9c0338ad1" xmlns:ns3="4df5ad8d-0fe0-41d4-8477-d485eb2c9506" targetNamespace="http://schemas.microsoft.com/office/2006/metadata/properties" ma:root="true" ma:fieldsID="7cc4d726de5d8f15ee2c77bc8e6ee7cc" ns2:_="" ns3:_="">
    <xsd:import namespace="90c166ff-cbd0-43b5-b1aa-fcd9c0338ad1"/>
    <xsd:import namespace="4df5ad8d-0fe0-41d4-8477-d485eb2c950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c166ff-cbd0-43b5-b1aa-fcd9c0338ad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e8872c1-2c48-45aa-8c0e-800c7f6b46a5}" ma:internalName="TaxCatchAll" ma:showField="CatchAllData" ma:web="90c166ff-cbd0-43b5-b1aa-fcd9c0338a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f5ad8d-0fe0-41d4-8477-d485eb2c9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a50f682-986b-4894-a6e4-8e1a6f3f94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f5ad8d-0fe0-41d4-8477-d485eb2c9506">
      <Terms xmlns="http://schemas.microsoft.com/office/infopath/2007/PartnerControls"/>
    </lcf76f155ced4ddcb4097134ff3c332f>
    <TaxCatchAll xmlns="90c166ff-cbd0-43b5-b1aa-fcd9c0338a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437EF0-C910-4824-B6C8-0130B0EB466F}"/>
</file>

<file path=customXml/itemProps2.xml><?xml version="1.0" encoding="utf-8"?>
<ds:datastoreItem xmlns:ds="http://schemas.openxmlformats.org/officeDocument/2006/customXml" ds:itemID="{97851753-649E-4DE1-9B8F-9E6A2FF49773}">
  <ds:schemaRefs>
    <ds:schemaRef ds:uri="http://schemas.microsoft.com/office/2006/documentManagement/types"/>
    <ds:schemaRef ds:uri="http://www.w3.org/XML/1998/namespace"/>
    <ds:schemaRef ds:uri="e66d1ba2-3a00-4c20-aaa8-8841589987f4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31385B3-9DD7-45B5-9EC7-B4F2000A03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150</TotalTime>
  <Words>480</Words>
  <Application>Microsoft Office PowerPoint</Application>
  <PresentationFormat>Widescreen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Parcel</vt:lpstr>
      <vt:lpstr>Database Overview</vt:lpstr>
      <vt:lpstr>Overview</vt:lpstr>
      <vt:lpstr>Why?</vt:lpstr>
      <vt:lpstr>Scholarly, Peer-Reviewed Sources</vt:lpstr>
      <vt:lpstr>Where are the databases?</vt:lpstr>
      <vt:lpstr>Which do I use?</vt:lpstr>
      <vt:lpstr>Choosing Specific</vt:lpstr>
      <vt:lpstr>Can’t Decide?</vt:lpstr>
      <vt:lpstr>Search Strategies</vt:lpstr>
      <vt:lpstr>Questions?</vt:lpstr>
      <vt:lpstr>Further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Overview</dc:title>
  <dc:creator>Vincente Gutierrez</dc:creator>
  <cp:lastModifiedBy>Rachel Kelly</cp:lastModifiedBy>
  <cp:revision>16</cp:revision>
  <dcterms:created xsi:type="dcterms:W3CDTF">2021-02-09T00:37:32Z</dcterms:created>
  <dcterms:modified xsi:type="dcterms:W3CDTF">2024-09-05T21:55:59Z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0x010100E5D4CFA1695D614E8A02BA36A2B906F5</vt:lpwstr>
  </property>
</Properties>
</file>